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293B"/>
                </a:solidFill>
                <a:latin typeface="Arial"/>
              </a:rPr>
              <a:t>Total Sales by Region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067-40C5-9D65-8A10A7E78762}"/>
              </c:ext>
            </c:extLst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067-40C5-9D65-8A10A7E78762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067-40C5-9D65-8A10A7E78762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067-40C5-9D65-8A10A7E7876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725457.82</c:v>
                </c:pt>
                <c:pt idx="1">
                  <c:v>678781.24</c:v>
                </c:pt>
                <c:pt idx="2">
                  <c:v>501239.89</c:v>
                </c:pt>
                <c:pt idx="3">
                  <c:v>391721.91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067-40C5-9D65-8A10A7E787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293B"/>
                </a:solidFill>
                <a:latin typeface="Arial"/>
              </a:rPr>
              <a:t>Profit by Discount Band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 ($)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3A3-4E5E-8D65-6C819CE65B9B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3A3-4E5E-8D65-6C819CE65B9B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3A3-4E5E-8D65-6C819CE65B9B}"/>
              </c:ext>
            </c:extLst>
          </c:dPt>
          <c:dPt>
            <c:idx val="3"/>
            <c:invertIfNegative val="0"/>
            <c:bubble3D val="0"/>
            <c:spPr>
              <a:solidFill>
                <a:srgbClr val="991B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3A3-4E5E-8D65-6C819CE65B9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 Discount</c:v>
                </c:pt>
                <c:pt idx="1">
                  <c:v>Low (0–30%)</c:v>
                </c:pt>
                <c:pt idx="2">
                  <c:v>Medium (30–50%)</c:v>
                </c:pt>
                <c:pt idx="3">
                  <c:v>High (&gt;50%)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164956.18</c:v>
                </c:pt>
                <c:pt idx="1">
                  <c:v>78423.45</c:v>
                </c:pt>
                <c:pt idx="2">
                  <c:v>-2843.1</c:v>
                </c:pt>
                <c:pt idx="3">
                  <c:v>-42089.56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3A3-4E5E-8D65-6C819CE65B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Top 10 Most Profitable Products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 ($)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Canon imageCLASS</c:v>
                </c:pt>
                <c:pt idx="1">
                  <c:v>Fellowes PB500</c:v>
                </c:pt>
                <c:pt idx="2">
                  <c:v>3D Systems Cube</c:v>
                </c:pt>
                <c:pt idx="3">
                  <c:v>Hewlett Packard</c:v>
                </c:pt>
                <c:pt idx="4">
                  <c:v>GBC DocuBind</c:v>
                </c:pt>
                <c:pt idx="5">
                  <c:v>Ibico EPK-21</c:v>
                </c:pt>
                <c:pt idx="6">
                  <c:v>Lexmark MX611</c:v>
                </c:pt>
                <c:pt idx="7">
                  <c:v>Cisco TelePresence</c:v>
                </c:pt>
                <c:pt idx="8">
                  <c:v>Motorola Smart</c:v>
                </c:pt>
                <c:pt idx="9">
                  <c:v>HON 5400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25199.93</c:v>
                </c:pt>
                <c:pt idx="1">
                  <c:v>7753.04</c:v>
                </c:pt>
                <c:pt idx="2">
                  <c:v>6199.97</c:v>
                </c:pt>
                <c:pt idx="3">
                  <c:v>5741.34</c:v>
                </c:pt>
                <c:pt idx="4">
                  <c:v>4929.34</c:v>
                </c:pt>
                <c:pt idx="5">
                  <c:v>4359.72</c:v>
                </c:pt>
                <c:pt idx="6">
                  <c:v>4253.47</c:v>
                </c:pt>
                <c:pt idx="7">
                  <c:v>3975.99</c:v>
                </c:pt>
                <c:pt idx="8">
                  <c:v>3847.99</c:v>
                </c:pt>
                <c:pt idx="9">
                  <c:v>3835.55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CE-4555-AE9F-A777BD1D9F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E293B"/>
                </a:solidFill>
                <a:latin typeface="Arial"/>
              </a:rPr>
              <a:t>Sales Share by Category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06A-41C5-BF85-C3C9ABAF3960}"/>
              </c:ext>
            </c:extLst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6A-41C5-BF85-C3C9ABAF3960}"/>
              </c:ext>
            </c:extLst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06A-41C5-BF85-C3C9ABAF396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6A-41C5-BF85-C3C9ABAF396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6A-41C5-BF85-C3C9ABAF396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6A-41C5-BF85-C3C9ABAF396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836154.03</c:v>
                </c:pt>
                <c:pt idx="1">
                  <c:v>741999.8</c:v>
                </c:pt>
                <c:pt idx="2">
                  <c:v>719047.03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06A-41C5-BF85-C3C9ABAF39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71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51E50"/>
          </a:solidFill>
          <a:ln w="12700">
            <a:solidFill>
              <a:srgbClr val="151E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2286000" cy="2286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200400"/>
            <a:ext cx="1828800" cy="18288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4864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48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MySQL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Revenue, Profit &amp; Customer Insights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Advanced SQL on Kaggle's Sample Superstore Dataset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5029200" cy="1829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Suvodip Mistry  </a:t>
            </a: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May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640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2648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12648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3383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2648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057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20574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1874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sales, profit, customer, and discount patterns from Superstore data to drive data-informed business decisions.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2057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1188720"/>
            <a:ext cx="205740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1691640"/>
            <a:ext cx="1874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Kaggle's Sample Superstore dataset with ~10,000 orders across 4 regions, 3 customer segments, and 3 product categories.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2057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188720"/>
            <a:ext cx="20574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Tool Used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1691640"/>
            <a:ext cx="1874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— leveraging CTEs, Window Functions, CASE statements, JOINs, and aggregation queries.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12280" y="1188720"/>
            <a:ext cx="2057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188720"/>
            <a:ext cx="20574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Techniques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1691640"/>
            <a:ext cx="1874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ROW_NUMBER, RANK, DENSE_RANK, LAG, Running Totals, Profit Margin analysis, and MoM trend detection.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&amp; Q3 — Regional &amp; Segment Performance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51206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051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Profit Analysis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08760"/>
          <a:ext cx="3291840" cy="1463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Profit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Consumer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$134,119.21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Corporate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$91,979.13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Home Office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$60,298.68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577840" y="3108960"/>
            <a:ext cx="3291840" cy="169164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66928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💡 Key Insight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669280" y="35204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 region leads in sales by ~6.5% over East. Consumer segment generates the highest profit among all three segments.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&amp; Q8 — Discount Strategy &amp; Profit Impact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51206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Band Findings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77840" y="150876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508760"/>
            <a:ext cx="6400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0" y="15636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Discount Orders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0" y="18379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+$164,956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715000" y="2148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profitability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577840" y="260604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2606040"/>
            <a:ext cx="6400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0" y="26609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 (&gt;50%)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0" y="29352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−$42,089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715000" y="3246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losses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3703320"/>
            <a:ext cx="33375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370332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0" y="37581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Orders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15000" y="40325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Discount &gt; 0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715000" y="4343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in Q4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Q9–Q13 — Window Functions Deep Dive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430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5920" y="1179576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17957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Q9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5544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products within each category by total sales to identify top performers per category.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33172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331720"/>
            <a:ext cx="64008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2316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23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LAG()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645920" y="2459736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24597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Q10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834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Month-over-Month sales change to detect growth and decline trends over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61188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61188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7033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7033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DENSE_RANK()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45920" y="3739896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37398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Q11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1148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all states by total profit — handles ties gracefully without leaving gaps in ranking.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105156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05156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114300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1430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ROW_NUMBER()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1179576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117957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Q12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15544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unique row numbers to orders within each region, sorted by sales descending.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233172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33172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242316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423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 OVER()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26480" y="2459736"/>
            <a:ext cx="384048" cy="256032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24597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Q13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2834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cumulative running total of monthly sales to track growth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Q2, Q7 &amp; Q15 — Products &amp; Customer Value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0584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71500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Valuable Customers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15000" y="1508760"/>
            <a:ext cx="3200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79008" y="1645920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7900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09360" y="15636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Miller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09360" y="18928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$25,043.05  ·  7 orders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15000" y="2350008"/>
            <a:ext cx="3200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79008" y="2487168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79008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09360" y="24048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Tamara Chand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09360" y="27340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$19,052.22  ·  4 orders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15000" y="3191256"/>
            <a:ext cx="3200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79008" y="3328416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79008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309360" y="3246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Raymond Buch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35753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$15,117.34  ·  6 orders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715000" y="4032504"/>
            <a:ext cx="3200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779008" y="4169664"/>
            <a:ext cx="457200" cy="45720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79008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09360" y="40873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Ashbrook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309360" y="4416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$14,595.62  ·  6 orders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715000" y="4572000"/>
            <a:ext cx="320040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60720" y="45902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uses DENSE_RANK to find Top 3 products per Category×Region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03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Category Performance Summary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493776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Sales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Profit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Margin 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Technology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$836,154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$145,454.95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17.39%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Office Supplies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$719,047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$122,490.80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17.03%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Furniture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$741,999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$18,451.27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2.49%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0" y="324612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0" y="3246120"/>
            <a:ext cx="64008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681728" y="3310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681728" y="348386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margin at 17.39%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0" y="3813048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3813048"/>
            <a:ext cx="64008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81728" y="387705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Furniture: 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681728" y="40507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margin (2.49%) — needs review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0" y="437997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0" y="4379976"/>
            <a:ext cx="64008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81728" y="4443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Supplies: 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681728" y="46177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performer at 17.03%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06984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leads in sales revenue; targeted marketing can further boost East and Central regions.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47088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865376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discounts (&gt;50%) consistently generate losses — discount strategy needs immediate restructuring.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42616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42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660904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is the most profitable; loyalty programs can be designed to retain top customers.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438144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438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4564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category delivers the highest profit margin (17.39%), making it the priority for promotions.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233672"/>
            <a:ext cx="475488" cy="47548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233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2519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enabled sophisticated analytics: MoM trends, rankings, and running totals efficiently.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005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Sales Analysis — MySQL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Suvodip Mistry  ·  May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3291840"/>
            <a:ext cx="4572000" cy="1829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Sample Superstore (Kaggle)  ·  Tool: MySQL Workbench  ·  15 Queries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585</Words>
  <Application>Microsoft Office PowerPoint</Application>
  <PresentationFormat>On-screen Show (16:9)</PresentationFormat>
  <Paragraphs>133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Analysis</dc:title>
  <dc:subject>PptxGenJS Presentation</dc:subject>
  <dc:creator>Debarun Banerjee</dc:creator>
  <cp:lastModifiedBy>Suvodip Mistry</cp:lastModifiedBy>
  <cp:revision>3</cp:revision>
  <dcterms:created xsi:type="dcterms:W3CDTF">2026-05-07T03:21:02Z</dcterms:created>
  <dcterms:modified xsi:type="dcterms:W3CDTF">2026-05-07T03:24:01Z</dcterms:modified>
</cp:coreProperties>
</file>