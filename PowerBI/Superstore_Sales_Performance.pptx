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2014</c:v>
                </c:pt>
              </c:strCache>
            </c:strRef>
          </c:tx>
          <c:spPr>
            <a:solidFill>
              <a:srgbClr val="4472C4"/>
            </a:solidFill>
            <a:ln w="25400" cap="flat">
              <a:solidFill>
                <a:srgbClr val="4472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472C4"/>
              </a:solidFill>
              <a:ln w="9525" cap="flat">
                <a:solidFill>
                  <a:srgbClr val="4472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</c:v>
                </c:pt>
                <c:pt idx="1">
                  <c:v>12</c:v>
                </c:pt>
                <c:pt idx="2">
                  <c:v>52</c:v>
                </c:pt>
                <c:pt idx="3">
                  <c:v>32</c:v>
                </c:pt>
                <c:pt idx="4">
                  <c:v>28</c:v>
                </c:pt>
                <c:pt idx="5">
                  <c:v>35</c:v>
                </c:pt>
                <c:pt idx="6">
                  <c:v>40</c:v>
                </c:pt>
                <c:pt idx="7">
                  <c:v>55</c:v>
                </c:pt>
                <c:pt idx="8">
                  <c:v>68</c:v>
                </c:pt>
                <c:pt idx="9">
                  <c:v>70</c:v>
                </c:pt>
                <c:pt idx="10">
                  <c:v>75</c:v>
                </c:pt>
                <c:pt idx="11">
                  <c:v>65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rgbClr val="2E3F8F"/>
            </a:solidFill>
            <a:ln w="25400" cap="flat">
              <a:solidFill>
                <a:srgbClr val="2E3F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3F8F"/>
              </a:solidFill>
              <a:ln w="9525" cap="flat">
                <a:solidFill>
                  <a:srgbClr val="2E3F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20</c:v>
                </c:pt>
                <c:pt idx="1">
                  <c:v>15</c:v>
                </c:pt>
                <c:pt idx="2">
                  <c:v>55</c:v>
                </c:pt>
                <c:pt idx="3">
                  <c:v>35</c:v>
                </c:pt>
                <c:pt idx="4">
                  <c:v>30</c:v>
                </c:pt>
                <c:pt idx="5">
                  <c:v>38</c:v>
                </c:pt>
                <c:pt idx="6">
                  <c:v>44</c:v>
                </c:pt>
                <c:pt idx="7">
                  <c:v>60</c:v>
                </c:pt>
                <c:pt idx="8">
                  <c:v>75</c:v>
                </c:pt>
                <c:pt idx="9">
                  <c:v>78</c:v>
                </c:pt>
                <c:pt idx="10">
                  <c:v>80</c:v>
                </c:pt>
                <c:pt idx="11">
                  <c:v>70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rgbClr val="E07B39"/>
            </a:solidFill>
            <a:ln w="25400" cap="flat">
              <a:solidFill>
                <a:srgbClr val="E07B3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7B39"/>
              </a:solidFill>
              <a:ln w="9525" cap="flat">
                <a:solidFill>
                  <a:srgbClr val="E07B3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25</c:v>
                </c:pt>
                <c:pt idx="1">
                  <c:v>22</c:v>
                </c:pt>
                <c:pt idx="2">
                  <c:v>58</c:v>
                </c:pt>
                <c:pt idx="3">
                  <c:v>38</c:v>
                </c:pt>
                <c:pt idx="4">
                  <c:v>33</c:v>
                </c:pt>
                <c:pt idx="5">
                  <c:v>45</c:v>
                </c:pt>
                <c:pt idx="6">
                  <c:v>50</c:v>
                </c:pt>
                <c:pt idx="7">
                  <c:v>68</c:v>
                </c:pt>
                <c:pt idx="8">
                  <c:v>82</c:v>
                </c:pt>
                <c:pt idx="9">
                  <c:v>75</c:v>
                </c:pt>
                <c:pt idx="10">
                  <c:v>85</c:v>
                </c:pt>
                <c:pt idx="11">
                  <c:v>80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rgbClr val="7B5EA7"/>
            </a:solidFill>
            <a:ln w="25400" cap="flat">
              <a:solidFill>
                <a:srgbClr val="7B5E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B5EA7"/>
              </a:solidFill>
              <a:ln w="9525" cap="flat">
                <a:solidFill>
                  <a:srgbClr val="7B5E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45</c:v>
                </c:pt>
                <c:pt idx="1">
                  <c:v>28</c:v>
                </c:pt>
                <c:pt idx="2">
                  <c:v>65</c:v>
                </c:pt>
                <c:pt idx="3">
                  <c:v>42</c:v>
                </c:pt>
                <c:pt idx="4">
                  <c:v>38</c:v>
                </c:pt>
                <c:pt idx="5">
                  <c:v>52</c:v>
                </c:pt>
                <c:pt idx="6">
                  <c:v>60</c:v>
                </c:pt>
                <c:pt idx="7">
                  <c:v>78</c:v>
                </c:pt>
                <c:pt idx="8">
                  <c:v>95</c:v>
                </c:pt>
                <c:pt idx="9">
                  <c:v>88</c:v>
                </c:pt>
                <c:pt idx="10">
                  <c:v>105</c:v>
                </c:pt>
                <c:pt idx="11">
                  <c:v>72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bubble3D val="0"/>
            <c:spPr>
              <a:solidFill>
                <a:srgbClr val="2E7D32"/>
              </a:solidFill>
              <a:effectLst/>
            </c:spPr>
          </c:dPt>
          <c:dPt>
            <c:idx val="2"/>
            <c:bubble3D val="0"/>
            <c:spPr>
              <a:solidFill>
                <a:srgbClr val="E07B3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836.15</c:v>
                </c:pt>
                <c:pt idx="1">
                  <c:v>742</c:v>
                </c:pt>
                <c:pt idx="2">
                  <c:v>719.05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($K)</c:v>
                </c:pt>
              </c:strCache>
            </c:strRef>
          </c:tx>
          <c:spPr>
            <a:solidFill>
              <a:srgbClr val="7B5E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5EA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7B3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South</c:v>
                  </c:pt>
                  <c:pt idx="1">
                    <c:v>Central</c:v>
                  </c:pt>
                  <c:pt idx="2">
                    <c:v>East</c:v>
                  </c:pt>
                  <c:pt idx="3">
                    <c:v>West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390</c:v>
                </c:pt>
                <c:pt idx="1">
                  <c:v>500</c:v>
                </c:pt>
                <c:pt idx="2">
                  <c:v>680</c:v>
                </c:pt>
                <c:pt idx="3">
                  <c:v>730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(K)</c:v>
                </c:pt>
              </c:strCache>
            </c:strRef>
          </c:tx>
          <c:spPr>
            <a:solidFill>
              <a:srgbClr val="7B5E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5EA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7B3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7B3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HP DesignJet T520 Inkjet...</c:v>
                  </c:pt>
                  <c:pt idx="1">
                    <c:v>Hewlett Packard LaserJet...</c:v>
                  </c:pt>
                  <c:pt idx="2">
                    <c:v>GBC Ibimaster 500 Manu...</c:v>
                  </c:pt>
                  <c:pt idx="3">
                    <c:v>GBC DocuBind TL300 Ele...</c:v>
                  </c:pt>
                  <c:pt idx="4">
                    <c:v>HON 5400 Series Task Ch...</c:v>
                  </c:pt>
                  <c:pt idx="5">
                    <c:v>Cisco TelePresence Syste...</c:v>
                  </c:pt>
                  <c:pt idx="6">
                    <c:v>Fellowes PB500 Electric P...</c:v>
                  </c:pt>
                  <c:pt idx="7">
                    <c:v>Canon imageCLASS 2200...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</c:v>
                </c:pt>
                <c:pt idx="1">
                  <c:v>19</c:v>
                </c:pt>
                <c:pt idx="2">
                  <c:v>19</c:v>
                </c:pt>
                <c:pt idx="3">
                  <c:v>20</c:v>
                </c:pt>
                <c:pt idx="4">
                  <c:v>22</c:v>
                </c:pt>
                <c:pt idx="5">
                  <c:v>23</c:v>
                </c:pt>
                <c:pt idx="6">
                  <c:v>27</c:v>
                </c:pt>
                <c:pt idx="7">
                  <c:v>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Performance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(2014–2017)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286000" y="2606040"/>
            <a:ext cx="4572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88036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9718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2.30M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288036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9718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286.40K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68880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88036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9718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3440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288036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9718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12.47%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58000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business intelligence report across regions, categories, and products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2014–2017 Aggregate Results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109728" cy="1691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2.30M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Revenue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109728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2801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286.40K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7492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Earnings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109728" cy="16916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918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594360" y="3977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297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1089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108960"/>
            <a:ext cx="109728" cy="1691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2918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12.47%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5074920" y="3977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74920" y="4297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Sales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Over Time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performance across all four years (2014–2017)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60120"/>
          <a:ext cx="8412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Category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 across Technology, Furniture, and Office Supplies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4572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120640" y="1097280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120640" y="1097280"/>
            <a:ext cx="9144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21808" y="1188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21808" y="1481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836.15K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150608" y="14813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36.4%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120640" y="2377440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20640" y="2377440"/>
            <a:ext cx="9144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21808" y="2468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21808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742K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150608" y="27614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32.3%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120640" y="3657600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120640" y="3657600"/>
            <a:ext cx="9144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21808" y="3749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321808" y="4041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719.05K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150608" y="40416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31.3%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Region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 of revenue across US regions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1005840"/>
            <a:ext cx="25603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09360" y="1005840"/>
            <a:ext cx="73152" cy="7772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10515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West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92240" y="13898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2011680"/>
            <a:ext cx="25603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2011680"/>
            <a:ext cx="73152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2057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East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92240" y="23957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0.68M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09360" y="3017520"/>
            <a:ext cx="25603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0" y="3017520"/>
            <a:ext cx="73152" cy="7772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3063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Central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9224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0.50M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309360" y="4023360"/>
            <a:ext cx="25603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4023360"/>
            <a:ext cx="73152" cy="7772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40690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South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92240" y="4407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by Sales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revenue-generating products across all categories (in thousands USD)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60120"/>
          <a:ext cx="859536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737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698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Strong Revenue Growth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9047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saw the highest monthly peaks, reaching 0.10M+ in November — a clear upward trajectory across all four years.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4114800" cy="1737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698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Technology Leads Categories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49047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accounts for 36.4% of total sales ($836K), making it the top-performing category ahead of Furniture and Office Supplies.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114800" cy="1737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358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🌎 West Dominates Regionally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4564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West region leads with $0.73M in total sales, followed closely by East at $0.68M. South region has the most growth potential.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2926080"/>
            <a:ext cx="4114800" cy="1737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0358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 Canon Printer is Top Product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4564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 imageCLASS 2200 generates $62K — more than double the second-best product, highlighting strong single-product dependency.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sourced from Superstore Sales Dataset | Analysis Period: 2014–2017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Performance Analysis 2014-2017</dc:title>
  <dc:subject>PptxGenJS Presentation</dc:subject>
  <dc:creator>PptxGenJS</dc:creator>
  <cp:lastModifiedBy>PptxGenJS</cp:lastModifiedBy>
  <cp:revision>1</cp:revision>
  <dcterms:created xsi:type="dcterms:W3CDTF">2026-05-05T18:43:01Z</dcterms:created>
  <dcterms:modified xsi:type="dcterms:W3CDTF">2026-05-05T18:43:01Z</dcterms:modified>
</cp:coreProperties>
</file>