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5555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Movies</c:v>
                </c:pt>
                <c:pt idx="1">
                  <c:v>TV Shows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6131</c:v>
                </c:pt>
                <c:pt idx="1">
                  <c:v>2676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CCCCCC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Added</c:v>
                </c:pt>
              </c:strCache>
            </c:strRef>
          </c:tx>
          <c:spPr>
            <a:solidFill>
              <a:srgbClr val="44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CCCCC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cat>
            <c:multiLvlStrRef>
              <c:f>Sheet1!$A$2:$A$15</c:f>
              <c:multiLvlStrCache>
                <c:ptCount val="14"/>
                <c:lvl>
                  <c:pt idx="0">
                    <c:v>2008</c:v>
                  </c:pt>
                  <c:pt idx="1">
                    <c:v>2009</c:v>
                  </c:pt>
                  <c:pt idx="2">
                    <c:v>2010</c:v>
                  </c:pt>
                  <c:pt idx="3">
                    <c:v>2011</c:v>
                  </c:pt>
                  <c:pt idx="4">
                    <c:v>2012</c:v>
                  </c:pt>
                  <c:pt idx="5">
                    <c:v>2013</c:v>
                  </c:pt>
                  <c:pt idx="6">
                    <c:v>2014</c:v>
                  </c:pt>
                  <c:pt idx="7">
                    <c:v>2015</c:v>
                  </c:pt>
                  <c:pt idx="8">
                    <c:v>2016</c:v>
                  </c:pt>
                  <c:pt idx="9">
                    <c:v>2017</c:v>
                  </c:pt>
                  <c:pt idx="10">
                    <c:v>2018</c:v>
                  </c:pt>
                  <c:pt idx="11">
                    <c:v>2019</c:v>
                  </c:pt>
                  <c:pt idx="12">
                    <c:v>2020</c:v>
                  </c:pt>
                  <c:pt idx="13">
                    <c:v>2021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13</c:v>
                </c:pt>
                <c:pt idx="4">
                  <c:v>3</c:v>
                </c:pt>
                <c:pt idx="5">
                  <c:v>11</c:v>
                </c:pt>
                <c:pt idx="6">
                  <c:v>24</c:v>
                </c:pt>
                <c:pt idx="7">
                  <c:v>82</c:v>
                </c:pt>
                <c:pt idx="8">
                  <c:v>429</c:v>
                </c:pt>
                <c:pt idx="9">
                  <c:v>1188</c:v>
                </c:pt>
                <c:pt idx="10">
                  <c:v>1649</c:v>
                </c:pt>
                <c:pt idx="11">
                  <c:v>2016</c:v>
                </c:pt>
                <c:pt idx="12">
                  <c:v>1879</c:v>
                </c:pt>
                <c:pt idx="13">
                  <c:v>1498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CCCCC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CCCC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United States</c:v>
                  </c:pt>
                  <c:pt idx="1">
                    <c:v>India</c:v>
                  </c:pt>
                  <c:pt idx="2">
                    <c:v>Unknown</c:v>
                  </c:pt>
                  <c:pt idx="3">
                    <c:v>UK</c:v>
                  </c:pt>
                  <c:pt idx="4">
                    <c:v>Japan</c:v>
                  </c:pt>
                  <c:pt idx="5">
                    <c:v>S. Korea</c:v>
                  </c:pt>
                  <c:pt idx="6">
                    <c:v>Canada</c:v>
                  </c:pt>
                  <c:pt idx="7">
                    <c:v>Spain</c:v>
                  </c:pt>
                  <c:pt idx="8">
                    <c:v>France</c:v>
                  </c:pt>
                  <c:pt idx="9">
                    <c:v>Mexico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2818</c:v>
                </c:pt>
                <c:pt idx="1">
                  <c:v>972</c:v>
                </c:pt>
                <c:pt idx="2">
                  <c:v>831</c:v>
                </c:pt>
                <c:pt idx="3">
                  <c:v>419</c:v>
                </c:pt>
                <c:pt idx="4">
                  <c:v>245</c:v>
                </c:pt>
                <c:pt idx="5">
                  <c:v>199</c:v>
                </c:pt>
                <c:pt idx="6">
                  <c:v>181</c:v>
                </c:pt>
                <c:pt idx="7">
                  <c:v>145</c:v>
                </c:pt>
                <c:pt idx="8">
                  <c:v>124</c:v>
                </c:pt>
                <c:pt idx="9">
                  <c:v>110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CCCC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CCCC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TV-MA</c:v>
                  </c:pt>
                  <c:pt idx="1">
                    <c:v>TV-14</c:v>
                  </c:pt>
                  <c:pt idx="2">
                    <c:v>TV-PG</c:v>
                  </c:pt>
                  <c:pt idx="3">
                    <c:v>R</c:v>
                  </c:pt>
                  <c:pt idx="4">
                    <c:v>PG-13</c:v>
                  </c:pt>
                  <c:pt idx="5">
                    <c:v>TV-Y7</c:v>
                  </c:pt>
                  <c:pt idx="6">
                    <c:v>TV-Y</c:v>
                  </c:pt>
                  <c:pt idx="7">
                    <c:v>PG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3207</c:v>
                </c:pt>
                <c:pt idx="1">
                  <c:v>2160</c:v>
                </c:pt>
                <c:pt idx="2">
                  <c:v>863</c:v>
                </c:pt>
                <c:pt idx="3">
                  <c:v>799</c:v>
                </c:pt>
                <c:pt idx="4">
                  <c:v>490</c:v>
                </c:pt>
                <c:pt idx="5">
                  <c:v>334</c:v>
                </c:pt>
                <c:pt idx="6">
                  <c:v>307</c:v>
                </c:pt>
                <c:pt idx="7">
                  <c:v>287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CCCC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CCCCC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6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5555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Intl Movies</c:v>
                  </c:pt>
                  <c:pt idx="1">
                    <c:v>Dramas</c:v>
                  </c:pt>
                  <c:pt idx="2">
                    <c:v>Comedies</c:v>
                  </c:pt>
                  <c:pt idx="3">
                    <c:v>Intl TV</c:v>
                  </c:pt>
                  <c:pt idx="4">
                    <c:v>Docs</c:v>
                  </c:pt>
                  <c:pt idx="5">
                    <c:v>Action</c:v>
                  </c:pt>
                  <c:pt idx="6">
                    <c:v>TV Dramas</c:v>
                  </c:pt>
                  <c:pt idx="7">
                    <c:v>Indie Movies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2752</c:v>
                </c:pt>
                <c:pt idx="1">
                  <c:v>2427</c:v>
                </c:pt>
                <c:pt idx="2">
                  <c:v>1674</c:v>
                </c:pt>
                <c:pt idx="3">
                  <c:v>1351</c:v>
                </c:pt>
                <c:pt idx="4">
                  <c:v>869</c:v>
                </c:pt>
                <c:pt idx="5">
                  <c:v>859</c:v>
                </c:pt>
                <c:pt idx="6">
                  <c:v>763</c:v>
                </c:pt>
                <c:pt idx="7">
                  <c:v>756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CCCCC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 Released</c:v>
                </c:pt>
              </c:strCache>
            </c:strRef>
          </c:tx>
          <c:spPr>
            <a:solidFill>
              <a:srgbClr val="44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5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6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17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8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19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20"/>
            <c:invertIfNegative val="0"/>
            <c:bubble3D val="0"/>
            <c:spPr>
              <a:solidFill>
                <a:srgbClr val="883333"/>
              </a:solidFill>
              <a:effectLst/>
            </c:spPr>
          </c:dPt>
          <c:dPt>
            <c:idx val="2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cat>
            <c:multiLvlStrRef>
              <c:f>Sheet1!$A$2:$A$23</c:f>
              <c:multiLvlStrCache>
                <c:ptCount val="22"/>
                <c:lvl>
                  <c:pt idx="0">
                    <c:v>2000</c:v>
                  </c:pt>
                  <c:pt idx="1">
                    <c:v>2001</c:v>
                  </c:pt>
                  <c:pt idx="2">
                    <c:v>2002</c:v>
                  </c:pt>
                  <c:pt idx="3">
                    <c:v>2003</c:v>
                  </c:pt>
                  <c:pt idx="4">
                    <c:v>2004</c:v>
                  </c:pt>
                  <c:pt idx="5">
                    <c:v>2005</c:v>
                  </c:pt>
                  <c:pt idx="6">
                    <c:v>2006</c:v>
                  </c:pt>
                  <c:pt idx="7">
                    <c:v>2007</c:v>
                  </c:pt>
                  <c:pt idx="8">
                    <c:v>2008</c:v>
                  </c:pt>
                  <c:pt idx="9">
                    <c:v>2009</c:v>
                  </c:pt>
                  <c:pt idx="10">
                    <c:v>2010</c:v>
                  </c:pt>
                  <c:pt idx="11">
                    <c:v>2011</c:v>
                  </c:pt>
                  <c:pt idx="12">
                    <c:v>2012</c:v>
                  </c:pt>
                  <c:pt idx="13">
                    <c:v>2013</c:v>
                  </c:pt>
                  <c:pt idx="14">
                    <c:v>2014</c:v>
                  </c:pt>
                  <c:pt idx="15">
                    <c:v>2015</c:v>
                  </c:pt>
                  <c:pt idx="16">
                    <c:v>2016</c:v>
                  </c:pt>
                  <c:pt idx="17">
                    <c:v>2017</c:v>
                  </c:pt>
                  <c:pt idx="18">
                    <c:v>2018</c:v>
                  </c:pt>
                  <c:pt idx="19">
                    <c:v>2019</c:v>
                  </c:pt>
                  <c:pt idx="20">
                    <c:v>2020</c:v>
                  </c:pt>
                  <c:pt idx="21">
                    <c:v>2021</c:v>
                  </c:pt>
                </c:lvl>
              </c:multiLvlStrCache>
            </c:multiLvl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33</c:v>
                </c:pt>
                <c:pt idx="1">
                  <c:v>40</c:v>
                </c:pt>
                <c:pt idx="2">
                  <c:v>44</c:v>
                </c:pt>
                <c:pt idx="3">
                  <c:v>51</c:v>
                </c:pt>
                <c:pt idx="4">
                  <c:v>55</c:v>
                </c:pt>
                <c:pt idx="5">
                  <c:v>67</c:v>
                </c:pt>
                <c:pt idx="6">
                  <c:v>82</c:v>
                </c:pt>
                <c:pt idx="7">
                  <c:v>74</c:v>
                </c:pt>
                <c:pt idx="8">
                  <c:v>113</c:v>
                </c:pt>
                <c:pt idx="9">
                  <c:v>118</c:v>
                </c:pt>
                <c:pt idx="10">
                  <c:v>154</c:v>
                </c:pt>
                <c:pt idx="11">
                  <c:v>145</c:v>
                </c:pt>
                <c:pt idx="12">
                  <c:v>173</c:v>
                </c:pt>
                <c:pt idx="13">
                  <c:v>225</c:v>
                </c:pt>
                <c:pt idx="14">
                  <c:v>264</c:v>
                </c:pt>
                <c:pt idx="15">
                  <c:v>398</c:v>
                </c:pt>
                <c:pt idx="16">
                  <c:v>658</c:v>
                </c:pt>
                <c:pt idx="17">
                  <c:v>767</c:v>
                </c:pt>
                <c:pt idx="18">
                  <c:v>767</c:v>
                </c:pt>
                <c:pt idx="19">
                  <c:v>633</c:v>
                </c:pt>
                <c:pt idx="20">
                  <c:v>517</c:v>
                </c:pt>
                <c:pt idx="21">
                  <c:v>277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Uploads</c:v>
                </c:pt>
              </c:strCache>
            </c:strRef>
          </c:tx>
          <c:spPr>
            <a:solidFill>
              <a:srgbClr val="44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CCCCC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5091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444444"/>
              </a:solidFill>
              <a:effectLst/>
            </c:spPr>
          </c:dPt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738</c:v>
                </c:pt>
                <c:pt idx="1">
                  <c:v>563</c:v>
                </c:pt>
                <c:pt idx="2">
                  <c:v>742</c:v>
                </c:pt>
                <c:pt idx="3">
                  <c:v>764</c:v>
                </c:pt>
                <c:pt idx="4">
                  <c:v>632</c:v>
                </c:pt>
                <c:pt idx="5">
                  <c:v>728</c:v>
                </c:pt>
                <c:pt idx="6">
                  <c:v>827</c:v>
                </c:pt>
                <c:pt idx="7">
                  <c:v>755</c:v>
                </c:pt>
                <c:pt idx="8">
                  <c:v>770</c:v>
                </c:pt>
                <c:pt idx="9">
                  <c:v>760</c:v>
                </c:pt>
                <c:pt idx="10">
                  <c:v>705</c:v>
                </c:pt>
                <c:pt idx="11">
                  <c:v>813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CCCCC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33333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999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4141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457200" cy="5143500"/>
          </a:xfrm>
          <a:prstGeom prst="rect">
            <a:avLst/>
          </a:prstGeom>
          <a:solidFill>
            <a:srgbClr val="B20710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274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NETFLIX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</a:t>
            </a:r>
            <a:endParaRPr lang="en-US" sz="3600" dirty="0"/>
          </a:p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2860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Python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2788920"/>
            <a:ext cx="2560320" cy="36576"/>
          </a:xfrm>
          <a:prstGeom prst="rect">
            <a:avLst/>
          </a:prstGeom>
          <a:solidFill>
            <a:srgbClr val="FFCCCC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netflix_titles.csv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457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dominate the catalog, but upload timing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international supply shape the growth story.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749040" y="1463040"/>
            <a:ext cx="2011680" cy="12801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1463040"/>
            <a:ext cx="54864" cy="1280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38862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TITLES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86200" y="18105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8,807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88620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after cleaning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011680" cy="12801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463040"/>
            <a:ext cx="54864" cy="1280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554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SHARE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72200" y="18105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69.6%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172200" y="2450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6,131 movies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49040" y="3017520"/>
            <a:ext cx="2011680" cy="12801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3017520"/>
            <a:ext cx="54864" cy="1280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86200" y="33649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88620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2,016 titles added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3017520"/>
            <a:ext cx="2011680" cy="12801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3017520"/>
            <a:ext cx="54864" cy="1280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MONTH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72200" y="33649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Jul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17220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827 titles added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475488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NOTEBOOK 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exploratory insight — the logical sequence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2743200" cy="15087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68680"/>
            <a:ext cx="27432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978408"/>
            <a:ext cx="438912" cy="43891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6112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Libraries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15270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matplotlib, seaborn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868680"/>
            <a:ext cx="2743200" cy="15087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868680"/>
            <a:ext cx="27432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Shape 16"/>
          <p:cNvSpPr/>
          <p:nvPr/>
        </p:nvSpPr>
        <p:spPr>
          <a:xfrm>
            <a:off x="3291840" y="978408"/>
            <a:ext cx="438912" cy="43891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22192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15270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netflix_titles.csv → DataFrame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868680"/>
            <a:ext cx="2743200" cy="15087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868680"/>
            <a:ext cx="27432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978408"/>
            <a:ext cx="438912" cy="43891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978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48272" y="1005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Nulls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15270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8,807 rows · 12 columns · 0 dupes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606040"/>
            <a:ext cx="2743200" cy="15087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606040"/>
            <a:ext cx="27432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" y="2715768"/>
            <a:ext cx="438912" cy="43891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6112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Missing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" y="3264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831 countries → 'Unknown'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2606040"/>
            <a:ext cx="2743200" cy="15087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6" name="Shape 34"/>
          <p:cNvSpPr/>
          <p:nvPr/>
        </p:nvSpPr>
        <p:spPr>
          <a:xfrm>
            <a:off x="3291840" y="2715768"/>
            <a:ext cx="438912" cy="43891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822192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Dates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91840" y="3264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year_added &amp; month_added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26480" y="2606040"/>
            <a:ext cx="2743200" cy="150876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26480" y="2606040"/>
            <a:ext cx="2743200" cy="36576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2" name="Shape 40"/>
          <p:cNvSpPr/>
          <p:nvPr/>
        </p:nvSpPr>
        <p:spPr>
          <a:xfrm>
            <a:off x="6217920" y="2715768"/>
            <a:ext cx="438912" cy="438912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43" name="Text 41"/>
          <p:cNvSpPr/>
          <p:nvPr/>
        </p:nvSpPr>
        <p:spPr>
          <a:xfrm>
            <a:off x="6217920" y="2715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48272" y="27432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17920" y="326440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&amp; distribution charts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4389120"/>
            <a:ext cx="859536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year_added and month_added are derived from parsed date_added — both used in downstream slides.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 MIX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make up about seven in ten Netflix catalog entries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65760" y="777240"/>
          <a:ext cx="4389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120640" y="1005840"/>
            <a:ext cx="3657600" cy="15544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120640" y="1005840"/>
            <a:ext cx="54864" cy="15544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0"/>
          <p:cNvSpPr/>
          <p:nvPr/>
        </p:nvSpPr>
        <p:spPr>
          <a:xfrm>
            <a:off x="5257800" y="1097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69.6%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525780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6,131 titles · Movies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120640" y="2834640"/>
            <a:ext cx="3657600" cy="15544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120640" y="2834640"/>
            <a:ext cx="54864" cy="1554480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7" name="Text 14"/>
          <p:cNvSpPr/>
          <p:nvPr/>
        </p:nvSpPr>
        <p:spPr>
          <a:xfrm>
            <a:off x="5257800" y="29260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555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30.4%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525780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2,676 titles · TV Shows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120640" y="4663440"/>
            <a:ext cx="3657600" cy="1828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7"/>
          <p:cNvSpPr/>
          <p:nvPr/>
        </p:nvSpPr>
        <p:spPr>
          <a:xfrm>
            <a:off x="5166360" y="46817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is movie-led — movie behavior drives aggregate charts.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GROWTH OVER TIME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additions surged after 2016 and peaked in 2019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777240"/>
          <a:ext cx="64008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949440" y="1005840"/>
            <a:ext cx="1920240" cy="141732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0" y="1005840"/>
            <a:ext cx="54864" cy="14173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10515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2,016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7086600" y="175564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Additions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2019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49440" y="2697480"/>
            <a:ext cx="1920240" cy="141732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49440" y="2697480"/>
            <a:ext cx="54864" cy="141732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7" name="Text 14"/>
          <p:cNvSpPr/>
          <p:nvPr/>
        </p:nvSpPr>
        <p:spPr>
          <a:xfrm>
            <a:off x="7086600" y="27432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4.7×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7086600" y="34472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2016→2019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(429 to 2,016)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74320" y="46817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Post-2019 decline reflects the static snapshot ending 2021, not a catalog shrink.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COUNTRY FOOTPRINT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States is the largest source, with India a clear second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77724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035040" y="868680"/>
            <a:ext cx="2834640" cy="10972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35040" y="868680"/>
            <a:ext cx="54864" cy="10972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0"/>
          <p:cNvSpPr/>
          <p:nvPr/>
        </p:nvSpPr>
        <p:spPr>
          <a:xfrm>
            <a:off x="6172200" y="92354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2,818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6172200" y="14447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172200" y="169164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source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35040" y="2167128"/>
            <a:ext cx="2834640" cy="10972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35040" y="2167128"/>
            <a:ext cx="54864" cy="10972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222199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972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6172200" y="27432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72200" y="29900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largest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3465576"/>
            <a:ext cx="2834640" cy="10972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035040" y="3465576"/>
            <a:ext cx="54864" cy="10972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831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6172200" y="404164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172200" y="428853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flag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74320" y="46817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'Unknown' country values retained — notebook fills missing countries as 'Unknown'.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AUDIENCE &amp; GENRE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Mature-rated and international content define the catalog's center of gravity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RATINGS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74320" y="100584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663440" y="749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GENRES</a:t>
            </a:r>
            <a:endParaRPr lang="en-US" sz="11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4663440" y="100584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274320" y="46817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3 unusual rating values appear to be durations in source data — clean before formal reporting.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MOVIE PROFILE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volume peaks in the late 2010s, durations cluster around 100 min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777240"/>
          <a:ext cx="64008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6949440" y="822960"/>
            <a:ext cx="1920240" cy="10972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949440" y="822960"/>
            <a:ext cx="54864" cy="10972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0"/>
          <p:cNvSpPr/>
          <p:nvPr/>
        </p:nvSpPr>
        <p:spPr>
          <a:xfrm>
            <a:off x="7086600" y="87782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2017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086600" y="14264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Release Year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86600" y="166420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767 movies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49440" y="2121408"/>
            <a:ext cx="1920240" cy="10972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49440" y="2121408"/>
            <a:ext cx="54864" cy="10972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5"/>
          <p:cNvSpPr/>
          <p:nvPr/>
        </p:nvSpPr>
        <p:spPr>
          <a:xfrm>
            <a:off x="7086600" y="217627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98 min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086600" y="2724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Duration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086600" y="2962656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titles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949440" y="3419856"/>
            <a:ext cx="1920240" cy="1097280"/>
          </a:xfrm>
          <a:prstGeom prst="rect">
            <a:avLst/>
          </a:prstGeom>
          <a:solidFill>
            <a:srgbClr val="1F1F1F"/>
          </a:solidFill>
          <a:ln/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49440" y="3419856"/>
            <a:ext cx="54864" cy="10972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3" name="Text 20"/>
          <p:cNvSpPr/>
          <p:nvPr/>
        </p:nvSpPr>
        <p:spPr>
          <a:xfrm>
            <a:off x="7086600" y="347472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5091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87-114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086600" y="40233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50%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086600" y="426110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range (min)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74320" y="468172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shown from 2000 onward — makes modern catalog build legible.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CREATIVE TALENT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appearances reveal catalog concentration around recurring contributors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749808"/>
            <a:ext cx="411480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768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DIRECTORS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1225296"/>
            <a:ext cx="2953512" cy="25603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1170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Rajiv Chilaka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1704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664208"/>
            <a:ext cx="2798064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609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Raúl Campos, Jan Suter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11880" y="16093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2103120"/>
            <a:ext cx="2487168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048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Suhas Kadav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542032"/>
            <a:ext cx="2487168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2487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Raboy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2980944"/>
            <a:ext cx="2176272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 Karas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11880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419856"/>
            <a:ext cx="2020824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Cathy Garcia-Molina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11880" y="3364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28600" y="3858768"/>
            <a:ext cx="1865376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Chahine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11880" y="38039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4297680"/>
            <a:ext cx="1865376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242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Scorsese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11880" y="4242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749808"/>
            <a:ext cx="4114800" cy="32004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7680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ACTORS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00600" y="1225296"/>
            <a:ext cx="2970784" cy="256032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11704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Anupam Kher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83880" y="11704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1664208"/>
            <a:ext cx="2418080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16093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Rukh Khan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183880" y="16093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0600" y="2103120"/>
            <a:ext cx="2279904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2048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 Tejwani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83880" y="20482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2542032"/>
            <a:ext cx="2210816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24871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Naseeruddin Shah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183880" y="24871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0600" y="2980944"/>
            <a:ext cx="2210816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2926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Takahiro Sakurai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183880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00600" y="3419856"/>
            <a:ext cx="2141728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33649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Rupa Bhimani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183880" y="33649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800600" y="3858768"/>
            <a:ext cx="2072640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57" name="Text 55"/>
          <p:cNvSpPr/>
          <p:nvPr/>
        </p:nvSpPr>
        <p:spPr>
          <a:xfrm>
            <a:off x="4846320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Akshay Kumar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183880" y="38039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800600" y="4297680"/>
            <a:ext cx="2072640" cy="256032"/>
          </a:xfrm>
          <a:prstGeom prst="rect">
            <a:avLst/>
          </a:prstGeom>
          <a:solidFill>
            <a:srgbClr val="444444"/>
          </a:solidFill>
          <a:ln/>
        </p:spPr>
      </p:sp>
      <p:sp>
        <p:nvSpPr>
          <p:cNvPr id="60" name="Text 58"/>
          <p:cNvSpPr/>
          <p:nvPr/>
        </p:nvSpPr>
        <p:spPr>
          <a:xfrm>
            <a:off x="4846320" y="4242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 Puri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183880" y="4242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343400" y="749808"/>
            <a:ext cx="36576" cy="4114800"/>
          </a:xfrm>
          <a:prstGeom prst="rect">
            <a:avLst/>
          </a:prstGeom>
          <a:solidFill>
            <a:srgbClr val="36363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109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UPLOAD CADENCE &amp; MARKET MIX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233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are fairly steady by month; country mix varies sharply by format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netflix_titles.csv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7498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UPLOADS</a:t>
            </a:r>
            <a:endParaRPr lang="en-US" sz="11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74320" y="100584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5303520" y="7498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× FORMAT SPLIT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05840"/>
          <a:ext cx="3566160" cy="2743200"/>
        </p:xfrm>
        <a:graphic>
          <a:graphicData uri="http://schemas.openxmlformats.org/drawingml/2006/table">
            <a:tbl>
              <a:tblPr/>
              <a:tblGrid>
                <a:gridCol w="1737360"/>
                <a:gridCol w="914400"/>
                <a:gridCol w="914400"/>
              </a:tblGrid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Movies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TV Shows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0914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United States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</a:rPr>
                        <a:t>2058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760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India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</a:rPr>
                        <a:t>893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79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Unknown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</a:rPr>
                        <a:t>440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391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United Kingdom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</a:rPr>
                        <a:t>206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213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Japan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169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91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South Korea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50914"/>
                          </a:solidFill>
                        </a:rPr>
                        <a:t>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CCCCCC"/>
                          </a:solidFill>
                        </a:rPr>
                        <a:t>158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274320" y="3840480"/>
            <a:ext cx="4754880" cy="41148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5" name="Text 11"/>
          <p:cNvSpPr/>
          <p:nvPr/>
        </p:nvSpPr>
        <p:spPr>
          <a:xfrm>
            <a:off x="365760" y="3867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July is the highest upload month in this snapshot (827 titles).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55448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109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777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is strongest as a catalog profile, with a few data-cleaning fixes before formal use.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4937760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70992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INSIGHTS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057400"/>
            <a:ext cx="4937760" cy="56692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2057400"/>
            <a:ext cx="45720" cy="5669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2130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" y="213055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dominate the title count — movie behavior drives most aggregate charts.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715768"/>
            <a:ext cx="4937760" cy="56692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" y="2715768"/>
            <a:ext cx="45720" cy="5669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788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1248" y="278892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Additions accelerated sharply after 2016 and peaked in 2019 in the available snapshot.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374136"/>
            <a:ext cx="4937760" cy="56692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" y="3374136"/>
            <a:ext cx="45720" cy="5669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3447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" y="344728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Movies and Dramas are the largest genre families in the catalog.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4032504"/>
            <a:ext cx="4937760" cy="56692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4032504"/>
            <a:ext cx="45720" cy="566928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1056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🏳️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410565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and India are the largest named content sources by volume.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32120" y="1691640"/>
            <a:ext cx="3383280" cy="2743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17099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CODE POLISH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32120" y="2057400"/>
            <a:ext cx="3383280" cy="56692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7" name="Shape 25"/>
          <p:cNvSpPr/>
          <p:nvPr/>
        </p:nvSpPr>
        <p:spPr>
          <a:xfrm>
            <a:off x="5532120" y="2057400"/>
            <a:ext cx="45720" cy="56692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28" name="Text 26"/>
          <p:cNvSpPr/>
          <p:nvPr/>
        </p:nvSpPr>
        <p:spPr>
          <a:xfrm>
            <a:off x="5614416" y="214884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16168" y="213055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year_added and month_added immediately after parsing date_added.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2715768"/>
            <a:ext cx="3383280" cy="56692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1" name="Shape 29"/>
          <p:cNvSpPr/>
          <p:nvPr/>
        </p:nvSpPr>
        <p:spPr>
          <a:xfrm>
            <a:off x="5532120" y="2715768"/>
            <a:ext cx="45720" cy="56692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5614416" y="280720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16168" y="278892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rating values that are actually durations.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3374136"/>
            <a:ext cx="3383280" cy="56692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5" name="Shape 33"/>
          <p:cNvSpPr/>
          <p:nvPr/>
        </p:nvSpPr>
        <p:spPr>
          <a:xfrm>
            <a:off x="5532120" y="3374136"/>
            <a:ext cx="45720" cy="56692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6" name="Text 34"/>
          <p:cNvSpPr/>
          <p:nvPr/>
        </p:nvSpPr>
        <p:spPr>
          <a:xfrm>
            <a:off x="5614416" y="346557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916168" y="34472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multi-country values for country-level production analysis.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4032504"/>
            <a:ext cx="3383280" cy="56692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39" name="Shape 37"/>
          <p:cNvSpPr/>
          <p:nvPr/>
        </p:nvSpPr>
        <p:spPr>
          <a:xfrm>
            <a:off x="5532120" y="4032504"/>
            <a:ext cx="45720" cy="566928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40" name="Text 38"/>
          <p:cNvSpPr/>
          <p:nvPr/>
        </p:nvSpPr>
        <p:spPr>
          <a:xfrm>
            <a:off x="5614416" y="412394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916168" y="410565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Unknown country/director values as a data-quality segment.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Suvodip Mistry  ·  Project Python  ·  Exploratory Analysis  ·  Source: netflix_titles.csv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Analysis</dc:title>
  <dc:subject>Python Project</dc:subject>
  <dc:creator>Suvodip Mistry</dc:creator>
  <cp:lastModifiedBy>Suvodip Mistry</cp:lastModifiedBy>
  <cp:revision>1</cp:revision>
  <dcterms:created xsi:type="dcterms:W3CDTF">2026-05-08T19:16:48Z</dcterms:created>
  <dcterms:modified xsi:type="dcterms:W3CDTF">2026-05-08T19:16:48Z</dcterms:modified>
</cp:coreProperties>
</file>